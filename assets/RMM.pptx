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omfortaa Bold"/>
      <p:regular r:id="rId17"/>
    </p:embeddedFont>
    <p:embeddedFont>
      <p:font typeface="Raleway Medium"/>
      <p:regular r:id="rId18"/>
    </p:embeddedFont>
    <p:embeddedFont>
      <p:font typeface="Raleway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470273"/>
            <a:ext cx="413139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Veille Technologique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2130326"/>
            <a:ext cx="5900440" cy="591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Choisir son outil RMM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0023" y="2953196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Synthèse comparative des solutions propriétaires et open source — Analyse de cas Schoenenberger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0023" y="3378398"/>
            <a:ext cx="865510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6" name="Text 4"/>
          <p:cNvSpPr/>
          <p:nvPr/>
        </p:nvSpPr>
        <p:spPr>
          <a:xfrm>
            <a:off x="632594" y="3424684"/>
            <a:ext cx="1137568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STAGE SISR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82626" y="3373636"/>
            <a:ext cx="1825526" cy="299591"/>
          </a:xfrm>
          <a:prstGeom prst="roundRect">
            <a:avLst>
              <a:gd name="adj" fmla="val 61806"/>
            </a:avLst>
          </a:prstGeom>
          <a:noFill/>
          <a:ln w="4763">
            <a:solidFill>
              <a:srgbClr val="FFE1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9959" y="3424684"/>
            <a:ext cx="208805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ADMINISTRATION SYSTÈME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196355"/>
            <a:ext cx="21717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0023" y="1472357"/>
            <a:ext cx="536651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Qu'est-ce qu'un outil RMM 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0023" y="2132409"/>
            <a:ext cx="8063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 outil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RMM (Remote Monitoring &amp; Management)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centralise la supervision, la maintenance et le déploiement de logiciels sur un parc informatique — à distance, en temps réel.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0973" y="2799755"/>
            <a:ext cx="2604195" cy="11473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483" y="2973065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Supervision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0483" y="3279949"/>
            <a:ext cx="21813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Alertes, performances, disponibilité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378" y="2799755"/>
            <a:ext cx="2604195" cy="11473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09888" y="2973065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Déploiement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509888" y="3279949"/>
            <a:ext cx="21813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Masterisation, patching, scripts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9783" y="2799755"/>
            <a:ext cx="2604195" cy="11473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9293" y="2973065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Prise en main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249293" y="3279949"/>
            <a:ext cx="21813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Accès distant, résolution d'incidents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983084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Contexte du Stage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643137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Le besoin initial portait sur trois axes opérationnels critiques pour la gestion d'un parc hétérogène.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2063576"/>
            <a:ext cx="2585145" cy="2096839"/>
          </a:xfrm>
          <a:prstGeom prst="roundRect">
            <a:avLst>
              <a:gd name="adj" fmla="val 11038"/>
            </a:avLst>
          </a:prstGeom>
          <a:solidFill>
            <a:srgbClr val="46464A"/>
          </a:solidFill>
          <a:ln/>
        </p:spPr>
      </p:sp>
      <p:sp>
        <p:nvSpPr>
          <p:cNvPr id="5" name="Text 3"/>
          <p:cNvSpPr/>
          <p:nvPr/>
        </p:nvSpPr>
        <p:spPr>
          <a:xfrm>
            <a:off x="694283" y="2217837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Masterisation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283" y="2524720"/>
            <a:ext cx="2276624" cy="148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Déploiement d'images système standardisées sur plusieurs postes simultanément, avec personnalisation par profil utilisateur.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9428" y="2063576"/>
            <a:ext cx="2585145" cy="2096839"/>
          </a:xfrm>
          <a:prstGeom prst="roundRect">
            <a:avLst>
              <a:gd name="adj" fmla="val 11038"/>
            </a:avLst>
          </a:prstGeom>
          <a:solidFill>
            <a:srgbClr val="46464A"/>
          </a:solidFill>
          <a:ln/>
        </p:spPr>
      </p:sp>
      <p:sp>
        <p:nvSpPr>
          <p:cNvPr id="8" name="Text 6"/>
          <p:cNvSpPr/>
          <p:nvPr/>
        </p:nvSpPr>
        <p:spPr>
          <a:xfrm>
            <a:off x="3433688" y="2217837"/>
            <a:ext cx="18270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Déploiement logiciel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33688" y="2524720"/>
            <a:ext cx="227662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Installation silencieuse et mise à jour des applications métier sans intervention physique sur les postes.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18833" y="2063576"/>
            <a:ext cx="2585145" cy="2096839"/>
          </a:xfrm>
          <a:prstGeom prst="roundRect">
            <a:avLst>
              <a:gd name="adj" fmla="val 11038"/>
            </a:avLst>
          </a:prstGeom>
          <a:solidFill>
            <a:srgbClr val="46464A"/>
          </a:solidFill>
          <a:ln/>
        </p:spPr>
      </p:sp>
      <p:sp>
        <p:nvSpPr>
          <p:cNvPr id="11" name="Text 9"/>
          <p:cNvSpPr/>
          <p:nvPr/>
        </p:nvSpPr>
        <p:spPr>
          <a:xfrm>
            <a:off x="6173093" y="2217837"/>
            <a:ext cx="22031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Prise en main à distance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3093" y="2524720"/>
            <a:ext cx="227662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Support utilisateur réactif et traçabilité des interventions techniques pour le suivi des incidents.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109" y="350341"/>
            <a:ext cx="17966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Analyse du marché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75109" y="555427"/>
            <a:ext cx="3997449" cy="334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Les leaders propriétaires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109" y="1137419"/>
            <a:ext cx="3549848" cy="3549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3805" y="1802085"/>
            <a:ext cx="17966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Ce qu'il faut retenir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23805" y="2063651"/>
            <a:ext cx="3549848" cy="1096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Intune</a:t>
            </a:r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: incontournable en environnement Microsoft 365, mais nécessite une licence E3/E5</a:t>
            </a:r>
            <a:endParaRPr lang="en-US" sz="900" dirty="0"/>
          </a:p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NinjaOne</a:t>
            </a:r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: excellent rapport simplicité/fonctionnalités, adapté aux équipes réduites</a:t>
            </a:r>
            <a:endParaRPr lang="en-US" sz="900" dirty="0"/>
          </a:p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Datto RMM</a:t>
            </a:r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: orienté MSP, automatisation poussée, idéal pour la gestion externalisée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23805" y="3265810"/>
            <a:ext cx="3549848" cy="745034"/>
          </a:xfrm>
          <a:prstGeom prst="roundRect">
            <a:avLst>
              <a:gd name="adj" fmla="val 24271"/>
            </a:avLst>
          </a:prstGeom>
          <a:solidFill>
            <a:srgbClr val="0223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55" y="3439567"/>
            <a:ext cx="150688" cy="1205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15595" y="3380705"/>
            <a:ext cx="3037508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Les solutions propriétaires offrent un support éditeur dédié et des mises à jour garanties — un avantage pour les environnements critiques.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722" y="421630"/>
            <a:ext cx="2091333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Analyse du marché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14722" y="681930"/>
            <a:ext cx="5541541" cy="408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Les alternatives Open Source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722" y="1300683"/>
            <a:ext cx="1138684" cy="7037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722" y="2179588"/>
            <a:ext cx="1634133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NetLock RMM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14722" y="2467942"/>
            <a:ext cx="2588047" cy="114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RMM open source moderne, axé sur la sécurité, la gestion des correctifs et l'accès distant. Bon équilibre entre fonctionnalités et simplicité de déploiement.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939" y="1300683"/>
            <a:ext cx="1138684" cy="7037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7939" y="2179588"/>
            <a:ext cx="1634133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Zabbix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277939" y="2467942"/>
            <a:ext cx="2588047" cy="114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Plateforme de monitoring et d'alerte de niveau entreprise. Supervision complète de l'infrastructure, suivi des performances et gestion des incidents.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157" y="1300683"/>
            <a:ext cx="1138758" cy="7037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1157" y="2179588"/>
            <a:ext cx="1634133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Tactical RMM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041157" y="2467942"/>
            <a:ext cx="2588121" cy="689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Inspiré de Datto/Ninja. Scripting PowerShell, patching automatique, interface web moderne.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14722" y="3774207"/>
            <a:ext cx="8114556" cy="789980"/>
          </a:xfrm>
          <a:prstGeom prst="roundRect">
            <a:avLst>
              <a:gd name="adj" fmla="val 27926"/>
            </a:avLst>
          </a:prstGeom>
          <a:solidFill>
            <a:srgbClr val="4B3F0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64" y="3981748"/>
            <a:ext cx="183803" cy="1470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2609" y="3937099"/>
            <a:ext cx="7489627" cy="464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⚠️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L'open source réduit les coûts de licence, mais impose une charge de maintenance et de sécurisation interne significative.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45988"/>
            <a:ext cx="22048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Tableau comparatif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0023" y="921990"/>
            <a:ext cx="811009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Propriétaire vs Open Source : critères SISR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0023" y="1582043"/>
            <a:ext cx="8063954" cy="2915394"/>
          </a:xfrm>
          <a:prstGeom prst="roundRect">
            <a:avLst>
              <a:gd name="adj" fmla="val 7939"/>
            </a:avLst>
          </a:prstGeom>
          <a:noFill/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9548" y="1591568"/>
            <a:ext cx="8044904" cy="4415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4106" y="1688902"/>
            <a:ext cx="239881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Critère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59001" y="1688902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Intune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07024" y="1688902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NinjaOne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5047" y="1688902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NetLock RMM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03071" y="1688902"/>
            <a:ext cx="159432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Tactical RMM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9548" y="2033141"/>
            <a:ext cx="8044904" cy="4415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04106" y="2130475"/>
            <a:ext cx="239881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Coût de licence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59001" y="2130475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Élevé (M365)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07024" y="2130475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Modéré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5047" y="2130475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Gratuit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03071" y="2130475"/>
            <a:ext cx="159432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Gratuit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9548" y="2474714"/>
            <a:ext cx="8044904" cy="4415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4106" y="2572048"/>
            <a:ext cx="239881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Déploiement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59001" y="2572048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Automatisé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07024" y="2572048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Automatisé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5047" y="2572048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Semi-auto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03071" y="2572048"/>
            <a:ext cx="159432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Semi-auto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9548" y="2916287"/>
            <a:ext cx="8044904" cy="6884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04106" y="3013621"/>
            <a:ext cx="239881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Support éditeur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59001" y="3013621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Microsoft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07024" y="3013621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24/7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5047" y="3013621"/>
            <a:ext cx="1134740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❌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Communauté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3071" y="3013621"/>
            <a:ext cx="113712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❌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Communauté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9548" y="3604766"/>
            <a:ext cx="8044904" cy="4415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04106" y="3702100"/>
            <a:ext cx="239881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Conformité / Audit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59001" y="3702100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Avancé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07024" y="3702100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Standard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5047" y="3702100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Standard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03071" y="3702100"/>
            <a:ext cx="159432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Standard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9548" y="4046339"/>
            <a:ext cx="8044904" cy="4415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04106" y="4143673"/>
            <a:ext cx="239881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Charge admin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59001" y="4143673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Moyenne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07024" y="4143673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Faible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55047" y="4143673"/>
            <a:ext cx="159194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Moyenne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03071" y="4143673"/>
            <a:ext cx="159432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Moyenne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8421" y="487189"/>
            <a:ext cx="2010966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Étude de cas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918421" y="732086"/>
            <a:ext cx="4736157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Schoenenberger : contexte et enjeux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18421" y="1699022"/>
            <a:ext cx="4736157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Schoenenberger, entreprise industrielle, devait moderniser la gestion de son parc informatique hétérogène avec des contraintes budgétaires strictes et une équipe SISR limitée.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18421" y="2481114"/>
            <a:ext cx="4736157" cy="2175197"/>
          </a:xfrm>
          <a:prstGeom prst="roundRect">
            <a:avLst>
              <a:gd name="adj" fmla="val 9643"/>
            </a:avLst>
          </a:prstGeom>
          <a:solidFill>
            <a:srgbClr val="46464A"/>
          </a:solidFill>
          <a:ln/>
        </p:spPr>
      </p:sp>
      <p:sp>
        <p:nvSpPr>
          <p:cNvPr id="7" name="Shape 4"/>
          <p:cNvSpPr/>
          <p:nvPr/>
        </p:nvSpPr>
        <p:spPr>
          <a:xfrm>
            <a:off x="3918421" y="2481114"/>
            <a:ext cx="2368079" cy="1194197"/>
          </a:xfrm>
          <a:prstGeom prst="roundRect">
            <a:avLst>
              <a:gd name="adj" fmla="val 17565"/>
            </a:avLst>
          </a:prstGeom>
          <a:solidFill>
            <a:srgbClr val="46464A"/>
          </a:solidFill>
          <a:ln/>
        </p:spPr>
      </p:sp>
      <p:sp>
        <p:nvSpPr>
          <p:cNvPr id="8" name="Text 5"/>
          <p:cNvSpPr/>
          <p:nvPr/>
        </p:nvSpPr>
        <p:spPr>
          <a:xfrm>
            <a:off x="4058245" y="2620938"/>
            <a:ext cx="1584499" cy="198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🏭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Parc hétérogène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58245" y="2895898"/>
            <a:ext cx="2088431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Postes Windows, serveurs, équipements de production — diversité des OS et des usages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86500" y="2481114"/>
            <a:ext cx="2368079" cy="1194197"/>
          </a:xfrm>
          <a:prstGeom prst="rect">
            <a:avLst/>
          </a:prstGeom>
          <a:solidFill>
            <a:srgbClr val="46464A"/>
          </a:solidFill>
          <a:ln/>
        </p:spPr>
      </p:sp>
      <p:sp>
        <p:nvSpPr>
          <p:cNvPr id="11" name="Shape 8"/>
          <p:cNvSpPr/>
          <p:nvPr/>
        </p:nvSpPr>
        <p:spPr>
          <a:xfrm>
            <a:off x="6286500" y="2481114"/>
            <a:ext cx="19050" cy="1194197"/>
          </a:xfrm>
          <a:prstGeom prst="roundRect">
            <a:avLst>
              <a:gd name="adj" fmla="val 1101093"/>
            </a:avLst>
          </a:prstGeom>
          <a:solidFill>
            <a:srgbClr val="5F5F63"/>
          </a:solidFill>
          <a:ln/>
        </p:spPr>
      </p:sp>
      <p:sp>
        <p:nvSpPr>
          <p:cNvPr id="12" name="Text 9"/>
          <p:cNvSpPr/>
          <p:nvPr/>
        </p:nvSpPr>
        <p:spPr>
          <a:xfrm>
            <a:off x="6426324" y="2620938"/>
            <a:ext cx="2062832" cy="198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💶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Contrainte budgétaire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26324" y="2895898"/>
            <a:ext cx="2088431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Budget IT serré, nécessité de justifier chaque investissement logiciel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18421" y="3675311"/>
            <a:ext cx="4736157" cy="981001"/>
          </a:xfrm>
          <a:prstGeom prst="rect">
            <a:avLst/>
          </a:prstGeom>
          <a:solidFill>
            <a:srgbClr val="46464A"/>
          </a:solidFill>
          <a:ln/>
        </p:spPr>
      </p:sp>
      <p:sp>
        <p:nvSpPr>
          <p:cNvPr id="15" name="Shape 12"/>
          <p:cNvSpPr/>
          <p:nvPr/>
        </p:nvSpPr>
        <p:spPr>
          <a:xfrm>
            <a:off x="3918421" y="3675311"/>
            <a:ext cx="4736157" cy="19050"/>
          </a:xfrm>
          <a:prstGeom prst="roundRect">
            <a:avLst>
              <a:gd name="adj" fmla="val 1101093"/>
            </a:avLst>
          </a:prstGeom>
          <a:solidFill>
            <a:srgbClr val="5F5F63"/>
          </a:solidFill>
          <a:ln/>
        </p:spPr>
      </p:sp>
      <p:sp>
        <p:nvSpPr>
          <p:cNvPr id="16" name="Text 13"/>
          <p:cNvSpPr/>
          <p:nvPr/>
        </p:nvSpPr>
        <p:spPr>
          <a:xfrm>
            <a:off x="4058245" y="3815135"/>
            <a:ext cx="1553766" cy="198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👤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Équipe réduite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058245" y="4090095"/>
            <a:ext cx="4456509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Peu de ressources humaines dédiées à l'administration système au quotidien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938" y="394990"/>
            <a:ext cx="2418308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Étude de cas — Décision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938" y="634752"/>
            <a:ext cx="5349999" cy="38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Pourquoi Nsight a été retenu ?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38" y="1200076"/>
            <a:ext cx="6929065" cy="20601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0938" y="3397895"/>
            <a:ext cx="309190" cy="309190"/>
          </a:xfrm>
          <a:prstGeom prst="roundRect">
            <a:avLst>
              <a:gd name="adj" fmla="val 66672"/>
            </a:avLst>
          </a:prstGeom>
          <a:solidFill>
            <a:srgbClr val="46464A"/>
          </a:solidFill>
          <a:ln/>
        </p:spPr>
      </p:sp>
      <p:sp>
        <p:nvSpPr>
          <p:cNvPr id="6" name="Text 3"/>
          <p:cNvSpPr/>
          <p:nvPr/>
        </p:nvSpPr>
        <p:spPr>
          <a:xfrm>
            <a:off x="543892" y="3437930"/>
            <a:ext cx="183207" cy="229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2465" y="3445073"/>
            <a:ext cx="1526977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Coût maîtrisé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2465" y="3709318"/>
            <a:ext cx="2193801" cy="103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Nsight propose un modèle de pricing compétitif, inférieur aux solutions enterprise comme Intune, avec une tarification transparente par endpoint.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9262" y="3397895"/>
            <a:ext cx="309190" cy="309190"/>
          </a:xfrm>
          <a:prstGeom prst="roundRect">
            <a:avLst>
              <a:gd name="adj" fmla="val 66672"/>
            </a:avLst>
          </a:prstGeom>
          <a:solidFill>
            <a:srgbClr val="46464A"/>
          </a:solidFill>
          <a:ln/>
        </p:spPr>
      </p:sp>
      <p:sp>
        <p:nvSpPr>
          <p:cNvPr id="10" name="Text 7"/>
          <p:cNvSpPr/>
          <p:nvPr/>
        </p:nvSpPr>
        <p:spPr>
          <a:xfrm>
            <a:off x="3322216" y="3437930"/>
            <a:ext cx="183207" cy="229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90789" y="3445073"/>
            <a:ext cx="1861691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Fiabilité opérationnelle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90789" y="3709318"/>
            <a:ext cx="2193875" cy="8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Plateforme éprouvée en environnement industriel, avec un taux de disponibilité élevé et un support réactif inclus.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7659" y="3397895"/>
            <a:ext cx="309190" cy="309190"/>
          </a:xfrm>
          <a:prstGeom prst="roundRect">
            <a:avLst>
              <a:gd name="adj" fmla="val 66672"/>
            </a:avLst>
          </a:prstGeom>
          <a:solidFill>
            <a:srgbClr val="46464A"/>
          </a:solidFill>
          <a:ln/>
        </p:spPr>
      </p:sp>
      <p:sp>
        <p:nvSpPr>
          <p:cNvPr id="14" name="Text 11"/>
          <p:cNvSpPr/>
          <p:nvPr/>
        </p:nvSpPr>
        <p:spPr>
          <a:xfrm>
            <a:off x="6100614" y="3437930"/>
            <a:ext cx="183207" cy="229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69187" y="3445073"/>
            <a:ext cx="2004417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Charge de travail réduite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69187" y="3709318"/>
            <a:ext cx="2193875" cy="103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Interface intuitive, automatisation native des tâches répétitives — l'équipe SISR gagne en productivité sans formation longue.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109" y="350341"/>
            <a:ext cx="17966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75109" y="555427"/>
            <a:ext cx="5362352" cy="334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Le TCO : au-delà du prix de licence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75109" y="1626766"/>
            <a:ext cx="2131665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Total Cost of Ownership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5109" y="1888331"/>
            <a:ext cx="3549848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Le coût réel d'un outil RMM ne se résume pas à sa licence. Il intègre :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279" y="2341401"/>
            <a:ext cx="180826" cy="180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6899" y="2337718"/>
            <a:ext cx="1452935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Coût financier direct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66899" y="2599283"/>
            <a:ext cx="3158058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Licences, maintenance, support éditeur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279" y="2963056"/>
            <a:ext cx="180826" cy="180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6899" y="2959373"/>
            <a:ext cx="13394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Coût humain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266899" y="3220938"/>
            <a:ext cx="3158058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Formation, administration quotidienne, troubleshooting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279" y="3584711"/>
            <a:ext cx="180826" cy="1808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6899" y="3581028"/>
            <a:ext cx="13394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Coût d'opportunité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266899" y="3842593"/>
            <a:ext cx="3158058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Temps perdu vs valeur ajoutée sur les projets stratégiques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805" y="1137419"/>
            <a:ext cx="3549848" cy="35498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33772"/>
            <a:ext cx="588124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Synthèse &amp; Recommandations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0023" y="1193825"/>
            <a:ext cx="2585145" cy="2220144"/>
          </a:xfrm>
          <a:prstGeom prst="roundRect">
            <a:avLst>
              <a:gd name="adj" fmla="val 10425"/>
            </a:avLst>
          </a:prstGeom>
          <a:solidFill>
            <a:srgbClr val="46464A"/>
          </a:solidFill>
          <a:ln/>
        </p:spPr>
      </p:sp>
      <p:sp>
        <p:nvSpPr>
          <p:cNvPr id="4" name="Shape 2"/>
          <p:cNvSpPr/>
          <p:nvPr/>
        </p:nvSpPr>
        <p:spPr>
          <a:xfrm>
            <a:off x="694283" y="1348085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531" y="1475333"/>
            <a:ext cx="208285" cy="2082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283" y="1965201"/>
            <a:ext cx="21018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Évaluer le contexte réel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4283" y="2272085"/>
            <a:ext cx="227662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Taille du parc, compétences internes, maturité des processus — pas de solution universelle.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79428" y="1193825"/>
            <a:ext cx="2585145" cy="2220144"/>
          </a:xfrm>
          <a:prstGeom prst="roundRect">
            <a:avLst>
              <a:gd name="adj" fmla="val 10425"/>
            </a:avLst>
          </a:prstGeom>
          <a:solidFill>
            <a:srgbClr val="46464A"/>
          </a:solidFill>
          <a:ln/>
        </p:spPr>
      </p:sp>
      <p:sp>
        <p:nvSpPr>
          <p:cNvPr id="9" name="Shape 6"/>
          <p:cNvSpPr/>
          <p:nvPr/>
        </p:nvSpPr>
        <p:spPr>
          <a:xfrm>
            <a:off x="3433688" y="1348085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0936" y="1475333"/>
            <a:ext cx="208285" cy="2082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33688" y="1965201"/>
            <a:ext cx="20879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Arbitrer coût vs charge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33688" y="2272085"/>
            <a:ext cx="227662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Une solution gratuite peut coûter plus cher en temps homme qu'une licence payante bien intégrée.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18833" y="1193825"/>
            <a:ext cx="2585145" cy="2220144"/>
          </a:xfrm>
          <a:prstGeom prst="roundRect">
            <a:avLst>
              <a:gd name="adj" fmla="val 10425"/>
            </a:avLst>
          </a:prstGeom>
          <a:solidFill>
            <a:srgbClr val="46464A"/>
          </a:solidFill>
          <a:ln/>
        </p:spPr>
      </p:sp>
      <p:sp>
        <p:nvSpPr>
          <p:cNvPr id="14" name="Shape 10"/>
          <p:cNvSpPr/>
          <p:nvPr/>
        </p:nvSpPr>
        <p:spPr>
          <a:xfrm>
            <a:off x="6173093" y="1348085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0341" y="1475333"/>
            <a:ext cx="208285" cy="2082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3093" y="1965201"/>
            <a:ext cx="17177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Prioriser l'adoption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3093" y="2272085"/>
            <a:ext cx="227662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 outil simple et adopté vaut mieux qu'un outil puissant sous-utilisé. L'ergonomie compte.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0023" y="3587502"/>
            <a:ext cx="8063954" cy="848618"/>
          </a:xfrm>
          <a:prstGeom prst="roundRect">
            <a:avLst>
              <a:gd name="adj" fmla="val 27275"/>
            </a:avLst>
          </a:prstGeom>
          <a:solidFill>
            <a:srgbClr val="183A1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283" y="3807247"/>
            <a:ext cx="192881" cy="1542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41425" y="3764905"/>
            <a:ext cx="740829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Leçon clé :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Le choix d'un RMM est avant tout un choix organisationnel. Le TCO humain dépasse souvent le TCO financier.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2026-06-06T17:08:34Z</dcterms:created>
  <dcterms:modified xsi:type="dcterms:W3CDTF">2026-06-06T17:08:34Z</dcterms:modified>
</cp:coreProperties>
</file>